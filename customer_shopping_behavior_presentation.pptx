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lexandria"/>
      <p:regular r:id="rId201314"/>
    </p:embeddedFont>
    <p:embeddedFont>
      <p:font typeface="Alexandria SemiBold"/>
      <p:regular r:id="rId201315"/>
    </p:embeddedFont>
    <p:embeddedFont>
      <p:font typeface="Alexandria Bold"/>
      <p:regular r:id="rId201316"/>
    </p:embeddedFont>
    <p:embeddedFont>
      <p:font typeface="Alexandria Black"/>
      <p:regular r:id="rId201317"/>
    </p:embeddedFont>
    <p:embeddedFont>
      <p:font typeface="Nobile"/>
      <p:regular r:id="rId201318"/>
    </p:embeddedFont>
    <p:embeddedFont>
      <p:font typeface="Nobil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image" Target="../media/image-3-2.png"/><Relationship Id="rId11" Type="http://schemas.openxmlformats.org/officeDocument/2006/relationships/image" Target="../media/image-3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2DD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091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complete data analysis project exploring spending patterns, customer segments, product preferences, and subscription behavior across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B54DA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3,900 purchase records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support data-driven business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2DD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77" y="502940"/>
            <a:ext cx="4388832" cy="5852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82513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233360" y="1420713"/>
            <a:ext cx="629686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dataset contains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3,900 purchase records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across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18 columns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organized into three information groups: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2197100"/>
            <a:ext cx="3059730" cy="1636514"/>
          </a:xfrm>
          <a:prstGeom prst="roundRect">
            <a:avLst>
              <a:gd name="adj" fmla="val 4699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22764" y="2386509"/>
            <a:ext cx="268092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Info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22764" y="2778919"/>
            <a:ext cx="2680923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Age, Gender, Location, and Subscription Status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70390" y="2197100"/>
            <a:ext cx="3059830" cy="1636514"/>
          </a:xfrm>
          <a:prstGeom prst="roundRect">
            <a:avLst>
              <a:gd name="adj" fmla="val 4699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59794" y="2386509"/>
            <a:ext cx="268102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Purchase Info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59794" y="2778919"/>
            <a:ext cx="268102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Item Purchased, Category, Purchase Amount, Season, Size, and Color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33360" y="4010918"/>
            <a:ext cx="6296860" cy="1348085"/>
          </a:xfrm>
          <a:prstGeom prst="roundRect">
            <a:avLst>
              <a:gd name="adj" fmla="val 570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22764" y="4200327"/>
            <a:ext cx="591805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Shopping Behavior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22764" y="4592737"/>
            <a:ext cx="591805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Discount Applied, Payment Method, Frequency, Review Rating, and Shipping Type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233360" y="5558532"/>
            <a:ext cx="6296860" cy="716855"/>
          </a:xfrm>
          <a:prstGeom prst="roundRect">
            <a:avLst>
              <a:gd name="adj" fmla="val 10728"/>
            </a:avLst>
          </a:prstGeom>
          <a:solidFill>
            <a:srgbClr val="D2DDF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414" y="5811838"/>
            <a:ext cx="228793" cy="18305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28261" y="5781576"/>
            <a:ext cx="612849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37 missing values were found in the Review Rating column.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614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Preparation &amp; Cleaning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46784"/>
            <a:ext cx="3532397" cy="35324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8120" y="1454845"/>
            <a:ext cx="691835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Python &amp; Pandas</a:t>
            </a:r>
            <a:endParaRPr lang="en-US" sz="1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2313" y="1905595"/>
            <a:ext cx="256871" cy="2568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74724" y="1897063"/>
            <a:ext cx="6361747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Explored structure with 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2313" y="2738438"/>
            <a:ext cx="256871" cy="2568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74724" y="2729905"/>
            <a:ext cx="636174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Replaced missing Review Ratings with category median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2313" y="3571280"/>
            <a:ext cx="256871" cy="25687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74724" y="3562747"/>
            <a:ext cx="636174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Standardized column names to snake_case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2313" y="4404122"/>
            <a:ext cx="256871" cy="25687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174724" y="4395589"/>
            <a:ext cx="6361747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features</a:t>
            </a:r>
            <a:endParaRPr lang="en-US" sz="13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82313" y="5236964"/>
            <a:ext cx="256871" cy="25687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174724" y="5228431"/>
            <a:ext cx="6361747" cy="280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Removed redundant 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column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4618120" y="5925443"/>
            <a:ext cx="752793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Cleaned data was loaded into a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PostgreSQL database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SQL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86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&amp; Spending Patterns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87327"/>
            <a:ext cx="3496877" cy="26520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80173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by Gender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210421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 customers generated higher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total revenue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due to more purchase records, but average purchase amounts were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relatively close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between genders.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587327"/>
            <a:ext cx="3496877" cy="26520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801739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High-Spending Discount Users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505696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Customers using discounts still made purchases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above the overall average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helping evaluate discount strategy effectiveness.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587327"/>
            <a:ext cx="3496877" cy="26520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801739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Subscribers vs. Non-Subscribers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3505696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Non-subscribers generated more total revenue (larger group), but average purchase amounts were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similar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across both groups.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283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Shipping &amp; Product Insights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80022"/>
            <a:ext cx="3518308" cy="35183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661" y="1540570"/>
            <a:ext cx="691081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Shipping Type Comparison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25661" y="1993702"/>
            <a:ext cx="691081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Express shipping purchases had 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54DA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higher average purchase amount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than Standard shipping — suggesting a link between premium shipping and higher spending.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25661" y="3076277"/>
            <a:ext cx="6910810" cy="25400"/>
          </a:xfrm>
          <a:prstGeom prst="roundRect">
            <a:avLst>
              <a:gd name="adj" fmla="val 49999"/>
            </a:avLst>
          </a:prstGeom>
          <a:solidFill>
            <a:srgbClr val="40415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625661" y="3339802"/>
            <a:ext cx="691081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Products by Rating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625661" y="3792934"/>
            <a:ext cx="691081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top 5 highest-rated products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were identified for potential inclusion in future marketing campaigns, as high ratings signal strong customer satisfaction.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25661" y="4875510"/>
            <a:ext cx="6910810" cy="25400"/>
          </a:xfrm>
          <a:prstGeom prst="roundRect">
            <a:avLst>
              <a:gd name="adj" fmla="val 49999"/>
            </a:avLst>
          </a:prstGeom>
          <a:solidFill>
            <a:srgbClr val="404155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625661" y="5139035"/>
            <a:ext cx="691081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Discount-Dependent Products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625661" y="5592167"/>
            <a:ext cx="691081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5 products with the highest percentage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of discounted purchases were identified, revealing which items rely most on discounts to drive sales.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2DD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8526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Segmentation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05938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Customers were divided into three segments based on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previous purchase history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876848"/>
            <a:ext cx="6296860" cy="2795786"/>
          </a:xfrm>
          <a:prstGeom prst="roundRect">
            <a:avLst>
              <a:gd name="adj" fmla="val 2840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2883198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66156" y="0"/>
                </a:moveTo>
                <a:lnTo>
                  <a:pt x="3142080" y="0"/>
                </a:lnTo>
                <a:lnTo>
                  <a:pt x="3142080" y="1391543"/>
                </a:lnTo>
                <a:lnTo>
                  <a:pt x="0" y="1391543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D2DDF9"/>
          </a:solidFill>
          <a:ln/>
        </p:spPr>
      </p:sp>
      <p:sp>
        <p:nvSpPr>
          <p:cNvPr id="8" name="Text 5"/>
          <p:cNvSpPr/>
          <p:nvPr/>
        </p:nvSpPr>
        <p:spPr>
          <a:xfrm>
            <a:off x="856832" y="3072209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New Customers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3480891"/>
            <a:ext cx="276406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Up to 5 previous purchases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809905" y="2883198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1391543"/>
                </a:ln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2DDF9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2883198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B8C3DF"/>
          </a:solidFill>
          <a:ln/>
        </p:spPr>
      </p:sp>
      <p:sp>
        <p:nvSpPr>
          <p:cNvPr id="12" name="Text 9"/>
          <p:cNvSpPr/>
          <p:nvPr/>
        </p:nvSpPr>
        <p:spPr>
          <a:xfrm>
            <a:off x="3998912" y="3072209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Returning Customers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3998912" y="3480891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More than 5, up to 10 previous purchases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7825" y="4274741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hR="66158" wR="66156" stAng="0" swAng="5400000"/>
                <a:lnTo>
                  <a:pt x="66156" y="1391543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D2DD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274741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16" name="Text 13"/>
          <p:cNvSpPr/>
          <p:nvPr/>
        </p:nvSpPr>
        <p:spPr>
          <a:xfrm>
            <a:off x="856832" y="446375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Loyal Customers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56832" y="4872434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More than 10 previous purchases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the largest segment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contributing a significant portion of total revenue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Repeat Buyers, Categories &amp; Age Groups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2789238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Products per Category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2991743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Most purchased products were identified across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Clothing, Footwear, Accessories,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Outerwear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improve product positioning and promotions.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61475" y="3308648"/>
            <a:ext cx="5315512" cy="12700"/>
          </a:xfrm>
          <a:prstGeom prst="roundRect">
            <a:avLst>
              <a:gd name="adj" fmla="val 49999"/>
            </a:avLst>
          </a:prstGeom>
          <a:solidFill>
            <a:srgbClr val="40415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402112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Repeat Buyers &amp; Subscriptions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1475" y="3604617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Customers with 5+ purchases showed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no significantly higher subscription rate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vs. the overall base — purchase history alone may not explain subscription behavior.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61475" y="3921522"/>
            <a:ext cx="5315512" cy="12700"/>
          </a:xfrm>
          <a:prstGeom prst="roundRect">
            <a:avLst>
              <a:gd name="adj" fmla="val 49999"/>
            </a:avLst>
          </a:prstGeom>
          <a:solidFill>
            <a:srgbClr val="40415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4014986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by Age Group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1475" y="4217491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1B54DA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Senior group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generated the highest revenue, followed by Adult and Middle-aged groups — useful for targeting marketing activities.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043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Findings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11784"/>
            <a:ext cx="342594" cy="3426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48359"/>
            <a:ext cx="53373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Gender Revenue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61475" y="2309019"/>
            <a:ext cx="533733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Males drive higher total revenue; average spend is similar across genders.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2782" y="1411784"/>
            <a:ext cx="342594" cy="3426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2782" y="1948359"/>
            <a:ext cx="53374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Express Shipping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192782" y="2309019"/>
            <a:ext cx="533743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Linked to higher average purchase amounts than Standard shipping.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41960"/>
            <a:ext cx="342594" cy="3426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678535"/>
            <a:ext cx="53373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Loyal Segment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61475" y="4039195"/>
            <a:ext cx="533733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Largest customer group, contributing significantly to total revenue.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2782" y="3141960"/>
            <a:ext cx="342594" cy="3426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2782" y="3678535"/>
            <a:ext cx="53374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Senior Age Group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192782" y="4039195"/>
            <a:ext cx="53374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Highest revenue-contributing age segment in the dataset.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872137"/>
            <a:ext cx="342594" cy="34260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408712"/>
            <a:ext cx="53373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Discount Variation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661475" y="5769372"/>
            <a:ext cx="533733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Discount dependence differs by product, allowing tailored strategies.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2782" y="4872137"/>
            <a:ext cx="342594" cy="34260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92782" y="5408712"/>
            <a:ext cx="53374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Subscription Behavior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6192782" y="5769372"/>
            <a:ext cx="53374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Repeat buyers show no significantly higher subscription rate.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41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Business Recommendations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4280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238673"/>
            <a:ext cx="5339820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383929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Enhance subscriptions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exclusive benefits, special offers, and loyalty rewards.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90301" y="194280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2238673"/>
            <a:ext cx="5339919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8" name="Text 6"/>
          <p:cNvSpPr/>
          <p:nvPr/>
        </p:nvSpPr>
        <p:spPr>
          <a:xfrm>
            <a:off x="6190301" y="2383929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Build a loyalty program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reward repeat buyers and convert Returning customers to Loyal.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331946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3615333"/>
            <a:ext cx="5339820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760589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Review discount strategy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monitor high-dependency products to protect margins.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90301" y="331946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3615333"/>
            <a:ext cx="5339919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301" y="3760589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Promote top-rated products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through marketing campaigns and recommendations.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69612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991993"/>
            <a:ext cx="5339820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5137249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Target high-revenue age groups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monitor campaign performance.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90301" y="469612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06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90301" y="4991993"/>
            <a:ext cx="5339919" cy="2540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0" name="Text 18"/>
          <p:cNvSpPr/>
          <p:nvPr/>
        </p:nvSpPr>
        <p:spPr>
          <a:xfrm>
            <a:off x="6190301" y="5137249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Evaluate Express shipping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as a premium service to test its effect on spending.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40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Tools, Dashboard &amp; Conclusion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7715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Tools &amp; Technologies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685058"/>
            <a:ext cx="2507394" cy="1479848"/>
          </a:xfrm>
          <a:prstGeom prst="roundRect">
            <a:avLst>
              <a:gd name="adj" fmla="val 53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880420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Python &amp; Pandas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364706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Loading, cleaning, feature engineering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357875" y="2685058"/>
            <a:ext cx="2507394" cy="1479848"/>
          </a:xfrm>
          <a:prstGeom prst="roundRect">
            <a:avLst>
              <a:gd name="adj" fmla="val 536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3232" y="2880420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PostgreSQL &amp; SQL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3553232" y="3364706"/>
            <a:ext cx="21166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Storage and business analysis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353917"/>
            <a:ext cx="5203794" cy="1177429"/>
          </a:xfrm>
          <a:prstGeom prst="roundRect">
            <a:avLst>
              <a:gd name="adj" fmla="val 6742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832" y="4549279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Power BI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56832" y="5033566"/>
            <a:ext cx="48130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Interactive dashboard &amp; visualization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32776" y="217715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32776" y="2661444"/>
            <a:ext cx="5203794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demonstrates a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complete end-to-end analysis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from raw transactional data through cleaning, SQL analysis, and Power BI visualization.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Insights on customer spending, product ratings, discounts, subscriptions, shipping, loyalty, and age groups can directly support decisions on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B54DA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retention, promotions, and targeted marketing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2026-09-05T19:07:45Z</dcterms:created>
  <dcterms:modified xsi:type="dcterms:W3CDTF">2026-09-05T19:07:45Z</dcterms:modified>
</cp:coreProperties>
</file>